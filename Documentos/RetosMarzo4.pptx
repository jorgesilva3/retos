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79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3B78"/>
          </a:solidFill>
          <a:ln w="12700">
            <a:solidFill>
              <a:srgbClr val="0B3B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12191695" cy="484632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experimental de sistemas con poleas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5836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ideal a lo real (3 etapas)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15468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Atwood simple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Polipasto (2:1 y opcional 4:1)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Atwood doble con fricción y masa de cuerda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2468880"/>
            <a:ext cx="36576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2606040"/>
            <a:ext cx="3383280" cy="2194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18120" y="48280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por análisis de video (Tracker)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5715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Santiago Santander Fonseca · Oscar Isaac Balcarcel Duarte · Jorge Andrés Silva Serrano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Física · Universidad Industrial de Santander · 4 de marzo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B78"/>
          </a:solidFill>
          <a:ln w="12700">
            <a:solidFill>
              <a:srgbClr val="0B3B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costos (estimados)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accesibles + opción de montaje de baja fricción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5438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7223760" cy="320040"/>
          </a:xfrm>
          <a:prstGeom prst="rect">
            <a:avLst/>
          </a:prstGeom>
          <a:solidFill>
            <a:srgbClr val="E9F0FF"/>
          </a:solidFill>
          <a:ln w="12700">
            <a:solidFill>
              <a:srgbClr val="D6E3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60120" y="170078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7007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recomendada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700784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(COP)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99339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Cordel nylon trenzado 4 mm × 20 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23 900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49631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" y="26060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Sencilla metálica 50 mm (opción)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18 900–25 649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299923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Varilla roscada 3/8" × 100 cm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11 900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50215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60120" y="3611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Rodamiento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4028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608ZZ (DIY baja fricción)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00507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60120" y="41148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Perno ojo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4028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× 20 (argolla)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7 800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50799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60120" y="46177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4028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Listón pino 2×2" × 3.2 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617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20 900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4400" y="5010912"/>
            <a:ext cx="7223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6012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4028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Báscula digital 5 kg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5120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26 402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12480" y="105156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8641080" y="12344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base estimado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41080" y="16002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113–120 mil COP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aluminio V-slot)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641080" y="23317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cuerda, polea, eje, rodamiento, estructura y balanza.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3566160"/>
            <a:ext cx="31546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8641080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montaje aluminio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41080" y="406908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V-slot 2020 (1 m)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Herrajes (tuercas T, tornillería)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rigidez y repetibilidad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57200" y="6611112"/>
            <a:ext cx="11277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Retos.pdf · UIS · Marzo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B78"/>
          </a:solidFill>
          <a:ln w="12700">
            <a:solidFill>
              <a:srgbClr val="0B3B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experimental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por etapas + extracción de x(t), v(t), a(t) con Tracker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53035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Preparar montaje y alinear eje(s)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Grabar video (≥ 3 s de movimiento útil)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Calibrar escala (referencia de longitud)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Definir ejes de referencia y repetir corridas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Tracking manual/automático → x(t), v(t), a(t)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Comparar contra modelos ideal/corregido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051560"/>
            <a:ext cx="4983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85800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por etapas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1627632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1: Atwood simple (ideal)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2: Polipasto (2:1 y 4:1)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3: Atwood doble + efectos reales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3886200"/>
            <a:ext cx="4983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858000" y="4069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clave (Etapa 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437083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M = m1 + m2 constante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Variar Δm = |m1 − m2|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a ∝ Δm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5504688"/>
            <a:ext cx="4480560" cy="548640"/>
          </a:xfrm>
          <a:prstGeom prst="rect">
            <a:avLst/>
          </a:prstGeom>
          <a:solidFill>
            <a:srgbClr val="E9F0FF"/>
          </a:solidFill>
          <a:ln w="12700">
            <a:solidFill>
              <a:srgbClr val="D6E3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949440" y="5605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curvas x(t), v(t), a(t) + regresión lineal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6611112"/>
            <a:ext cx="11277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Retos.pdf · UIS · Marzo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B78"/>
          </a:solidFill>
          <a:ln w="12700">
            <a:solidFill>
              <a:srgbClr val="0B3B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y 2: modelos ideales + validación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analíticas simples y comparación directa con Tracker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71500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Máquina de Atwood (ideal)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74904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teórico (polea sin masa ni fricción):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49040" y="205740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840480" y="2148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(Δm/M)·g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(2m1m2/(m1+m2))·g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370332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con Tracker y ajustar a vs Δm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pendiente k_exp = a/Δm con g/M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desviaciones del modelo ideal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0" y="1051560"/>
            <a:ext cx="49834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6858000" y="1234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Polipasto (ventaja mecánica)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903720" y="38404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ideal (n ramas sostienen la carga):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03720" y="4114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4"/>
          <p:cNvSpPr/>
          <p:nvPr/>
        </p:nvSpPr>
        <p:spPr>
          <a:xfrm>
            <a:off x="7040880" y="4206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mg/n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B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g/n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903720" y="48920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aceleración y comparar con g/n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diferencias a fricción y masa de cuerda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457200" y="6611112"/>
            <a:ext cx="11277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Retos.pdf · UIS · Marzo 2026</a:t>
            </a:r>
            <a:endParaRPr lang="en-US" sz="10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E296197-7513-9C83-FCAB-88B21017C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824" y="1504408"/>
            <a:ext cx="1631496" cy="261039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C5C37DF-9490-7812-1A4E-C4C44B465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684" y="1719072"/>
            <a:ext cx="1151845" cy="20371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B78"/>
          </a:solidFill>
          <a:ln w="12700">
            <a:solidFill>
              <a:srgbClr val="0B3B7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3: Atwood doble (realista)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fricción, masa distribuida y momento de inercia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64465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no ideales a incorporar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en poleas: umbral de arranque y pérdidas (sentido/velocidad)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de la cuerda (densidad lineal μ): tensiones no uniformes e inercia efectiva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de poleas (I) y radio (R): contribución I/R²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efectiva aproximada de cuerda (por tramo vertical):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703320"/>
            <a:ext cx="6080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F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1051560" y="3822192"/>
                <a:ext cx="58064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3822192"/>
                <a:ext cx="5806440" cy="320040"/>
              </a:xfrm>
              <a:prstGeom prst="rect">
                <a:avLst/>
              </a:prstGeom>
              <a:blipFill>
                <a:blip r:embed="rId3"/>
                <a:stretch>
                  <a:fillRect t="-22642" b="-30189"/>
                </a:stretch>
              </a:blipFill>
              <a:ln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914400" y="437083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corregido (forma compacta):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6080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1024128" y="4754880"/>
                <a:ext cx="589788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E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E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𝑚𝑔</m:t>
                          </m:r>
                          <m:r>
                            <a:rPr lang="es-E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5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1500" b="0" i="1" smtClean="0">
                                  <a:latin typeface="Cambria Math" panose="02040503050406030204" pitchFamily="18" charset="0"/>
                                </a:rPr>
                                <m:t>𝑓𝑟𝑖𝑐</m:t>
                              </m:r>
                            </m:sub>
                          </m:sSub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s-E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5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s-ES" sz="1500" b="0" i="1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r>
                            <a:rPr lang="es-ES" sz="1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5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s-ES" sz="1500" b="0" i="1" smtClean="0">
                                      <a:latin typeface="Cambria Math" panose="02040503050406030204" pitchFamily="18" charset="0"/>
                                    </a:rPr>
                                    <m:t>𝑝𝑜𝑙𝑒𝑎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s-ES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5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s-ES" sz="15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4754880"/>
                <a:ext cx="5897880" cy="731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7269480" y="1051560"/>
            <a:ext cx="4297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0" y="160020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efectos de fricción vs masa de cuerda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Evidenciar a(t) no constante en configuración doble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parámetros (I, μ, F_fric)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3886200"/>
            <a:ext cx="4297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49808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4370832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conecta teoría y práctica: muestra las limitaciones del modelo ideal e identifica factores físicos concretos (fricción, masa distribuida, inercia) con instrumentación accesible y análisis en Tracker.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 w="12700">
            <a:solidFill>
              <a:srgbClr val="E6EC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6611112"/>
            <a:ext cx="11277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Retos.pdf · UIS ·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700</Words>
  <Application>Microsoft Office PowerPoint</Application>
  <PresentationFormat>Panorámica</PresentationFormat>
  <Paragraphs>103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Industrial de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Retos: Estudio experimental de sistemas con poleas</dc:title>
  <dc:subject>Retos - Proyecto experimental (Atwood/Polipasto)</dc:subject>
  <dc:creator>UIS - Escuela de Física</dc:creator>
  <cp:lastModifiedBy>JORGE ESTEBAN SILVA SERRANO</cp:lastModifiedBy>
  <cp:revision>2</cp:revision>
  <dcterms:created xsi:type="dcterms:W3CDTF">2026-03-04T19:27:33Z</dcterms:created>
  <dcterms:modified xsi:type="dcterms:W3CDTF">2026-03-04T19:45:23Z</dcterms:modified>
</cp:coreProperties>
</file>